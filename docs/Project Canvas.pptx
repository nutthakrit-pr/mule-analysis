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embeddedFontLst>
    <p:embeddedFont>
      <p:font typeface="Play" panose="020B0604020202020204" charset="0"/>
      <p:regular r:id="rId4"/>
      <p:bold r:id="rId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8" roundtripDataSignature="AMtx7mjb2v1q5bBSX6pPZDMbbKQa65F03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8" d="100"/>
          <a:sy n="88" d="100"/>
        </p:scale>
        <p:origin x="13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customschemas.google.com/relationships/presentationmetadata" Target="metadata"/><Relationship Id="rId3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11" Type="http://schemas.openxmlformats.org/officeDocument/2006/relationships/theme" Target="theme/theme1.xml"/><Relationship Id="rId5" Type="http://schemas.openxmlformats.org/officeDocument/2006/relationships/font" Target="fonts/font2.fntdata"/><Relationship Id="rId10" Type="http://schemas.openxmlformats.org/officeDocument/2006/relationships/viewProps" Target="viewProps.xml"/><Relationship Id="rId4" Type="http://schemas.openxmlformats.org/officeDocument/2006/relationships/font" Target="fonts/font1.fntdata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-TH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r>
              <a:rPr lang="th-TH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Modified from Bill Schmarzo’s Machine Learning Canvas and Jasmine Vasandani’s Data Science Workflow Canvas for SWU</a:t>
            </a:r>
            <a:endParaRPr sz="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endParaRPr sz="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th-TH" sz="800"/>
              <a:t>https://towardsdatascience.com/a-data-science-workflow-canvas-to-kickstart-your-projects-db62556be4d0</a:t>
            </a:r>
            <a:endParaRPr sz="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th-TH" sz="800"/>
              <a:t>https://www.digitalistmag.com/cio-knowledge/2018/10/29/data-science-paint-by-numbers-with-hypothesis-development-canvas-06191989/</a:t>
            </a:r>
            <a:endParaRPr sz="800"/>
          </a:p>
        </p:txBody>
      </p:sp>
      <p:sp>
        <p:nvSpPr>
          <p:cNvPr id="87" name="Google Shape;87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th-TH"/>
              <a:t>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-T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-T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-T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-T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-T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8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8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-T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-T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0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-T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1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-T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2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-T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3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3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-TH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-TH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oogle Shape;89;p1"/>
          <p:cNvGrpSpPr/>
          <p:nvPr/>
        </p:nvGrpSpPr>
        <p:grpSpPr>
          <a:xfrm>
            <a:off x="373075" y="233014"/>
            <a:ext cx="3984569" cy="3070590"/>
            <a:chOff x="395295" y="654045"/>
            <a:chExt cx="2968577" cy="2024847"/>
          </a:xfrm>
        </p:grpSpPr>
        <p:pic>
          <p:nvPicPr>
            <p:cNvPr id="90" name="Google Shape;90;p1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018528" y="825888"/>
              <a:ext cx="182880" cy="1828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1" name="Google Shape;91;p1"/>
            <p:cNvSpPr/>
            <p:nvPr/>
          </p:nvSpPr>
          <p:spPr>
            <a:xfrm>
              <a:off x="395295" y="654045"/>
              <a:ext cx="2968577" cy="2024847"/>
            </a:xfrm>
            <a:prstGeom prst="rect">
              <a:avLst/>
            </a:prstGeom>
            <a:noFill/>
            <a:ln w="12700" cap="flat" cmpd="sng">
              <a:solidFill>
                <a:srgbClr val="A5A5A5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th-TH" sz="1100" b="1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1. </a:t>
              </a:r>
              <a:r>
                <a:rPr lang="th-TH" sz="1100" b="1" i="0" u="none" strike="noStrike" cap="none" dirty="0" err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Problem</a:t>
              </a:r>
              <a:r>
                <a:rPr lang="th-TH" sz="1100" b="1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lang="th-TH" sz="1100" b="1" i="0" u="none" strike="noStrike" cap="none" dirty="0" err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Statement</a:t>
              </a:r>
              <a:r>
                <a:rPr lang="th-TH" sz="1100" b="1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/</a:t>
              </a:r>
              <a:r>
                <a:rPr lang="th-TH" sz="1100" b="1" i="0" u="none" strike="noStrike" cap="none" dirty="0" err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Background</a:t>
              </a:r>
              <a:endParaRPr sz="11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th-TH" sz="1100" b="0" i="0" u="none" strike="noStrike" cap="none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ระบบตรวจจับแบบเดิม (</a:t>
              </a:r>
              <a:r>
                <a:rPr lang="th-TH" sz="1100" b="0" i="0" u="none" strike="noStrike" cap="none" dirty="0" err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Rule</a:t>
              </a:r>
              <a:r>
                <a:rPr lang="th-TH" sz="1100" b="0" i="0" u="none" strike="noStrike" cap="none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-</a:t>
              </a:r>
              <a:r>
                <a:rPr lang="th-TH" sz="1100" b="0" i="0" u="none" strike="noStrike" cap="none" dirty="0" err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based</a:t>
              </a:r>
              <a:r>
                <a:rPr lang="th-TH" sz="1100" b="0" i="0" u="none" strike="noStrike" cap="none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) ทำงานช้าเกินไป ทำให้คนโกงสามารถถอนเงินออกไปได้ก่อนที่ธนาคารจะดำเนินการ ส่งผลให้เกิดความเสียหายจากการฉ้อโกงสูงและมีความเสี่ยงด้านกฎระเบียบ</a:t>
              </a:r>
              <a:endParaRPr dirty="0"/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th-TH" sz="1100" b="1" i="0" u="none" strike="noStrike" cap="none" dirty="0" err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Keys</a:t>
              </a:r>
              <a:r>
                <a:rPr lang="th-TH" sz="1100" b="1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lang="th-TH" sz="1100" b="0" i="0" u="none" strike="noStrike" cap="none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ความล่าช้าในการตรวจจับ</a:t>
              </a:r>
              <a:r>
                <a:rPr lang="th-TH" sz="11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, </a:t>
              </a:r>
              <a:r>
                <a:rPr lang="th-TH" sz="1100" b="0" i="0" u="none" strike="noStrike" cap="none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อัตราการแจ้งเตือนผิดพลาดสูง</a:t>
              </a:r>
              <a:r>
                <a:rPr lang="th-TH" sz="11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, </a:t>
              </a:r>
              <a:r>
                <a:rPr lang="th-TH" sz="1100" b="0" i="0" u="none" strike="noStrike" cap="none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รูปแบบการทุจริตที่ปรับเปลี่ยนตลอดเวลา</a:t>
              </a:r>
              <a:endParaRPr dirty="0"/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th-TH" sz="105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5W1H Business </a:t>
              </a:r>
              <a:r>
                <a:rPr lang="th-TH" sz="1050" b="0" i="0" u="none" strike="noStrike" cap="none" dirty="0" err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Questions</a:t>
              </a:r>
              <a:r>
                <a:rPr lang="th-TH" sz="105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(</a:t>
              </a:r>
              <a:r>
                <a:rPr lang="th-TH" sz="1050" b="0" i="0" u="none" strike="noStrike" cap="none" dirty="0" err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Problem</a:t>
              </a:r>
              <a:r>
                <a:rPr lang="th-TH" sz="105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lang="th-TH" sz="1050" b="0" i="0" u="none" strike="noStrike" cap="none" dirty="0" err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Statement</a:t>
              </a:r>
              <a:r>
                <a:rPr lang="th-TH" sz="105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&amp; </a:t>
              </a:r>
              <a:r>
                <a:rPr lang="th-TH" sz="1050" b="0" i="0" u="none" strike="noStrike" cap="none" dirty="0" err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Hypothesis</a:t>
              </a:r>
              <a:r>
                <a:rPr lang="th-TH" sz="105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)</a:t>
              </a:r>
              <a:endParaRPr sz="105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2" name="Google Shape;92;p1"/>
          <p:cNvGrpSpPr/>
          <p:nvPr/>
        </p:nvGrpSpPr>
        <p:grpSpPr>
          <a:xfrm>
            <a:off x="9407656" y="567965"/>
            <a:ext cx="3297036" cy="3194729"/>
            <a:chOff x="8926757" y="829143"/>
            <a:chExt cx="3175687" cy="2841200"/>
          </a:xfrm>
        </p:grpSpPr>
        <p:sp>
          <p:nvSpPr>
            <p:cNvPr id="93" name="Google Shape;93;p1"/>
            <p:cNvSpPr/>
            <p:nvPr/>
          </p:nvSpPr>
          <p:spPr>
            <a:xfrm>
              <a:off x="8926757" y="829143"/>
              <a:ext cx="2668239" cy="2841200"/>
            </a:xfrm>
            <a:prstGeom prst="rect">
              <a:avLst/>
            </a:prstGeom>
            <a:noFill/>
            <a:ln w="12700" cap="flat" cmpd="sng">
              <a:solidFill>
                <a:srgbClr val="A5A5A5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th-TH" sz="900" b="1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4. </a:t>
              </a:r>
              <a:r>
                <a:rPr lang="th-TH" sz="900" b="1" i="0" u="none" strike="noStrike" cap="none" dirty="0" err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Key</a:t>
              </a:r>
              <a:r>
                <a:rPr lang="th-TH" sz="900" b="1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lang="th-TH" sz="900" b="1" i="0" u="none" strike="noStrike" cap="none" dirty="0" err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Metrics</a:t>
              </a:r>
              <a:r>
                <a:rPr lang="th-TH" sz="900" b="1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/</a:t>
              </a:r>
              <a:r>
                <a:rPr lang="th-TH" sz="900" b="1" i="0" u="none" strike="noStrike" cap="none" dirty="0" err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Attributes</a:t>
              </a:r>
              <a:endParaRPr sz="9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th-TH" sz="900" b="1" i="0" u="none" strike="noStrike" cap="none" dirty="0" err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Metrics</a:t>
              </a:r>
              <a:r>
                <a:rPr lang="th-TH" sz="900" b="1" i="0" u="none" strike="noStrike" cap="none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:</a:t>
              </a:r>
              <a:r>
                <a:rPr lang="th-TH" sz="900" b="0" i="0" u="none" strike="noStrike" cap="none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อัตราการตรวจพบ (</a:t>
              </a:r>
              <a:r>
                <a:rPr lang="th-TH" sz="900" b="0" i="0" u="none" strike="noStrike" cap="none" dirty="0" err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Recall</a:t>
              </a:r>
              <a:r>
                <a:rPr lang="th-TH" sz="900" b="0" i="0" u="none" strike="noStrike" cap="none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) และมูลค่าเงินที่อายัดได้ทัน </a:t>
              </a:r>
              <a:endParaRPr sz="900" dirty="0"/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th-TH" sz="900" b="1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Data:</a:t>
              </a:r>
              <a:r>
                <a:rPr lang="th-TH" sz="900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เวลาที่ทำธุรกรรม, รหัสอุปกรณ์ (</a:t>
              </a:r>
              <a:r>
                <a:rPr lang="th-TH" sz="900" dirty="0" err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Device</a:t>
              </a:r>
              <a:r>
                <a:rPr lang="th-TH" sz="900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th-TH" sz="900" dirty="0" err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IDs</a:t>
              </a:r>
              <a:r>
                <a:rPr lang="th-TH" sz="900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)/IP </a:t>
              </a:r>
              <a:r>
                <a:rPr lang="th-TH" sz="900" dirty="0" err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Address</a:t>
              </a:r>
              <a:r>
                <a:rPr lang="th-TH" sz="900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, และอายุของบัญชี</a:t>
              </a:r>
              <a:endParaRPr sz="900" dirty="0"/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th-TH" sz="900" b="1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Data </a:t>
              </a:r>
              <a:r>
                <a:rPr lang="th-TH" sz="900" b="1" dirty="0" err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Attributes</a:t>
              </a:r>
              <a:r>
                <a:rPr lang="th-TH" sz="900" b="1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&amp; Pre-</a:t>
              </a:r>
              <a:r>
                <a:rPr lang="th-TH" sz="900" b="1" dirty="0" err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processing</a:t>
              </a:r>
              <a:r>
                <a:rPr lang="th-TH" sz="900" b="1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:</a:t>
              </a:r>
              <a:endParaRPr sz="9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th-TH" sz="900" b="1" dirty="0" err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Added</a:t>
              </a:r>
              <a:r>
                <a:rPr lang="th-TH" sz="900" b="1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th-TH" sz="900" b="1" dirty="0" err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Feature</a:t>
              </a:r>
              <a:r>
                <a:rPr lang="th-TH" sz="900" b="1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:</a:t>
              </a:r>
              <a:r>
                <a:rPr lang="th-TH" sz="900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th-TH" sz="900" dirty="0" err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Transaction</a:t>
              </a:r>
              <a:r>
                <a:rPr lang="th-TH" sz="900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th-TH" sz="900" dirty="0" err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Amount</a:t>
              </a:r>
              <a:r>
                <a:rPr lang="th-TH" sz="900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(ยอดเงินโอน)</a:t>
              </a:r>
              <a:endParaRPr sz="900" dirty="0"/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th-TH" sz="900" b="1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Data </a:t>
              </a:r>
              <a:r>
                <a:rPr lang="th-TH" sz="900" b="1" dirty="0" err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Normalization</a:t>
              </a:r>
              <a:r>
                <a:rPr lang="th-TH" sz="900" b="1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:</a:t>
              </a:r>
              <a:r>
                <a:rPr lang="th-TH" sz="900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ใช้เทคนิค </a:t>
              </a:r>
              <a:r>
                <a:rPr lang="th-TH" sz="900" dirty="0" err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Min</a:t>
              </a:r>
              <a:r>
                <a:rPr lang="th-TH" sz="900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-</a:t>
              </a:r>
              <a:r>
                <a:rPr lang="th-TH" sz="900" dirty="0" err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Max</a:t>
              </a:r>
              <a:r>
                <a:rPr lang="th-TH" sz="900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th-TH" sz="900" dirty="0" err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Normalization</a:t>
              </a:r>
              <a:r>
                <a:rPr lang="th-TH" sz="900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ปรับ</a:t>
              </a:r>
              <a:r>
                <a:rPr lang="th-TH" sz="900" dirty="0" err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สเกล</a:t>
              </a:r>
              <a:r>
                <a:rPr lang="th-TH" sz="900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ยอดเงินให้อยู่ในช่วง 0-1 เพื่อลดอคติ (</a:t>
              </a:r>
              <a:r>
                <a:rPr lang="th-TH" sz="900" dirty="0" err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Bias</a:t>
              </a:r>
              <a:r>
                <a:rPr lang="th-TH" sz="900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) จาก </a:t>
              </a:r>
              <a:r>
                <a:rPr lang="th-TH" sz="900" dirty="0" err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Extreme</a:t>
              </a:r>
              <a:r>
                <a:rPr lang="th-TH" sz="900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th-TH" sz="900" dirty="0" err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Outliers</a:t>
              </a:r>
              <a:r>
                <a:rPr lang="th-TH" sz="900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ของบัญชีปกติ</a:t>
              </a:r>
              <a:endParaRPr sz="900" dirty="0"/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th-TH" sz="900" b="1" dirty="0" err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Imbalance</a:t>
              </a:r>
              <a:r>
                <a:rPr lang="th-TH" sz="900" b="1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th-TH" sz="900" b="1" dirty="0" err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Handling</a:t>
              </a:r>
              <a:r>
                <a:rPr lang="th-TH" sz="900" b="1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:</a:t>
              </a:r>
              <a:r>
                <a:rPr lang="th-TH" sz="900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ปรับสัดส่วนข้อมูล (</a:t>
              </a:r>
              <a:r>
                <a:rPr lang="th-TH" sz="900" dirty="0" err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Resampling</a:t>
              </a:r>
              <a:r>
                <a:rPr lang="th-TH" sz="900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) และใช้ </a:t>
              </a:r>
              <a:r>
                <a:rPr lang="th-TH" sz="900" dirty="0" err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Log</a:t>
              </a:r>
              <a:r>
                <a:rPr lang="th-TH" sz="900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th-TH" sz="900" dirty="0" err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Scale</a:t>
              </a:r>
              <a:r>
                <a:rPr lang="th-TH" sz="900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ใน</a:t>
              </a:r>
              <a:r>
                <a:rPr lang="th-TH" sz="900" dirty="0" err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การทำ</a:t>
              </a:r>
              <a:r>
                <a:rPr lang="th-TH" sz="900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Data </a:t>
              </a:r>
              <a:r>
                <a:rPr lang="th-TH" sz="900" dirty="0" err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Visualization</a:t>
              </a:r>
              <a:r>
                <a:rPr lang="th-TH" sz="900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เพื่อให้สามารถวิเคราะห์รูปแบบของคลาสที่มีจำนวนน้อย (</a:t>
              </a:r>
              <a:r>
                <a:rPr lang="th-TH" sz="900" dirty="0" err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Fraud</a:t>
              </a:r>
              <a:r>
                <a:rPr lang="th-TH" sz="900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) ได้อย่างชัดเจน</a:t>
              </a:r>
              <a:endParaRPr sz="900" dirty="0"/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94" name="Google Shape;94;p1" descr="Category:Disk &lt;strong&gt;icons&lt;/strong&gt; - Wikimedia Commons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1919564" y="829143"/>
              <a:ext cx="182880" cy="18288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5" name="Google Shape;95;p1"/>
          <p:cNvGrpSpPr/>
          <p:nvPr/>
        </p:nvGrpSpPr>
        <p:grpSpPr>
          <a:xfrm>
            <a:off x="4282819" y="683509"/>
            <a:ext cx="2989112" cy="3964691"/>
            <a:chOff x="4404012" y="-11054483"/>
            <a:chExt cx="763754" cy="12070406"/>
          </a:xfrm>
        </p:grpSpPr>
        <p:sp>
          <p:nvSpPr>
            <p:cNvPr id="96" name="Google Shape;96;p1"/>
            <p:cNvSpPr txBox="1"/>
            <p:nvPr/>
          </p:nvSpPr>
          <p:spPr>
            <a:xfrm>
              <a:off x="4404012" y="-11054483"/>
              <a:ext cx="763754" cy="86204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th-TH" sz="1000" b="1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2. SMART </a:t>
              </a:r>
              <a:r>
                <a:rPr lang="th-TH" sz="1000" b="1" dirty="0" err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Objectives</a:t>
              </a:r>
              <a:r>
                <a:rPr lang="th-TH" sz="1000" b="1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/ </a:t>
              </a:r>
              <a:r>
                <a:rPr lang="th-TH" sz="1000" b="1" dirty="0" err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Value</a:t>
              </a:r>
              <a:r>
                <a:rPr lang="th-TH" sz="1000" b="1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lang="th-TH" sz="1000" b="1" dirty="0" err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Propositions</a:t>
              </a:r>
              <a:endParaRPr sz="1000" dirty="0"/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th-TH" sz="1000" b="1" dirty="0" err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Specific</a:t>
              </a:r>
              <a:r>
                <a:rPr lang="th-TH" sz="1000" b="1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(เฉพาะเจาะจง):</a:t>
              </a:r>
              <a:r>
                <a:rPr lang="th-TH" sz="1000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พัฒนาโมเดล </a:t>
              </a:r>
              <a:r>
                <a:rPr lang="th-TH" sz="1000" b="1" dirty="0" err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Graph</a:t>
              </a:r>
              <a:r>
                <a:rPr lang="th-TH" sz="1000" b="1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th-TH" sz="1000" b="1" dirty="0" err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Neural</a:t>
              </a:r>
              <a:r>
                <a:rPr lang="th-TH" sz="1000" b="1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Network (GNN)</a:t>
              </a:r>
              <a:r>
                <a:rPr lang="th-TH" sz="1000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เพื่อระบุเครือข่ายบัญชีม้า</a:t>
              </a:r>
              <a:endParaRPr sz="1000" dirty="0"/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th-TH" sz="1000" b="1" dirty="0" err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Measurable</a:t>
              </a:r>
              <a:r>
                <a:rPr lang="th-TH" sz="1000" b="1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(วัดผลได้):</a:t>
              </a:r>
              <a:r>
                <a:rPr lang="th-TH" sz="1000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ลดมูลค่าความเสียหายจากการฉ้อโกงลง </a:t>
              </a:r>
              <a:r>
                <a:rPr lang="th-TH" sz="1000" b="1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15%</a:t>
              </a:r>
              <a:r>
                <a:rPr lang="th-TH" sz="1000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และเพิ่มความแม่นยำในการแจ้งเตือน (Precision) ขึ้น </a:t>
              </a:r>
              <a:r>
                <a:rPr lang="th-TH" sz="1000" b="1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20%</a:t>
              </a:r>
              <a:endParaRPr sz="1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th-TH" sz="1000" b="1" dirty="0" err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Achievable</a:t>
              </a:r>
              <a:r>
                <a:rPr lang="th-TH" sz="1000" b="1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(ทำได้จริง):</a:t>
              </a:r>
              <a:r>
                <a:rPr lang="th-TH" sz="1000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ใช้ประโยชน์จากบันทึกธุรกรรมภายในและข้อมูลลูกค้า (KYC) ที่มีอยู่แล้ว</a:t>
              </a:r>
              <a:endParaRPr sz="1000" dirty="0"/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th-TH" sz="1000" b="1" dirty="0" err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Relevant</a:t>
              </a:r>
              <a:r>
                <a:rPr lang="th-TH" sz="1000" b="1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(ตรงประเด็น):</a:t>
              </a:r>
              <a:r>
                <a:rPr lang="th-TH" sz="1000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สำคัญอย่างยิ่งต่อการปฏิบัติตามกฎหมาย </a:t>
              </a:r>
              <a:r>
                <a:rPr lang="th-TH" sz="1000" b="1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AML (ป้องกันการฟอกเงิน)</a:t>
              </a:r>
              <a:r>
                <a:rPr lang="th-TH" sz="1000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และเพิ่มประสิทธิภาพการดำเนินงาน</a:t>
              </a:r>
              <a:endParaRPr sz="1000" dirty="0"/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th-TH" sz="1000" b="1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Time-</a:t>
              </a:r>
              <a:r>
                <a:rPr lang="th-TH" sz="1000" b="1" dirty="0" err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bound</a:t>
              </a:r>
              <a:r>
                <a:rPr lang="th-TH" sz="1000" b="1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(มีกรอบเวลา):</a:t>
              </a:r>
              <a:r>
                <a:rPr lang="th-TH" sz="1000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th-TH" sz="1000" dirty="0" err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เทรน</a:t>
              </a:r>
              <a:r>
                <a:rPr lang="th-TH" sz="1000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โมเดลและเริ่มทดลองใช้งานจริงภายใน </a:t>
              </a:r>
              <a:r>
                <a:rPr lang="th-TH" sz="1000" b="1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6 เดือน</a:t>
              </a:r>
              <a:endParaRPr sz="1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97" name="Google Shape;97;p1" descr="exzuberant: SBAR with light bulbs and spanners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4820409" y="831697"/>
              <a:ext cx="161913" cy="18422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8" name="Google Shape;98;p1"/>
          <p:cNvGrpSpPr/>
          <p:nvPr/>
        </p:nvGrpSpPr>
        <p:grpSpPr>
          <a:xfrm>
            <a:off x="7038762" y="665474"/>
            <a:ext cx="2446440" cy="2912139"/>
            <a:chOff x="7686023" y="595812"/>
            <a:chExt cx="1374566" cy="2716606"/>
          </a:xfrm>
        </p:grpSpPr>
        <p:sp>
          <p:nvSpPr>
            <p:cNvPr id="99" name="Google Shape;99;p1"/>
            <p:cNvSpPr/>
            <p:nvPr/>
          </p:nvSpPr>
          <p:spPr>
            <a:xfrm>
              <a:off x="7686023" y="595812"/>
              <a:ext cx="1374566" cy="2716606"/>
            </a:xfrm>
            <a:prstGeom prst="rect">
              <a:avLst/>
            </a:prstGeom>
            <a:noFill/>
            <a:ln w="12700" cap="flat" cmpd="sng">
              <a:solidFill>
                <a:srgbClr val="A5A5A5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th-TH" sz="1000" b="1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3. </a:t>
              </a:r>
              <a:r>
                <a:rPr lang="th-TH" sz="1000" b="1" dirty="0" err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Questions</a:t>
              </a:r>
              <a:r>
                <a:rPr lang="th-TH" sz="1000" b="1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/</a:t>
              </a:r>
              <a:r>
                <a:rPr lang="th-TH" sz="1000" b="1" dirty="0" err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Hypothesis</a:t>
              </a:r>
              <a:endParaRPr sz="1000" dirty="0"/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th-TH" sz="1000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เราตั้งสมมติฐานว่าบัญชีม้ามีพฤติกรรมเฉพาะตัว คือ "ระยะเวลาถือครองเงินสั้นมาก" (รับปุ๊บโอนออกปั๊บ) และ "มีการเกาะกลุ่มกันเป็นเครือข่าย" (หลายบัญชีใช้ข้อมูลระบุตัวตนร่วมกัน).</a:t>
              </a:r>
              <a:endParaRPr sz="1000" dirty="0"/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th-TH" sz="900" b="1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ผลการพิสูจน์สมมติฐาน (EDA </a:t>
              </a:r>
              <a:r>
                <a:rPr lang="th-TH" sz="900" b="1" dirty="0" err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Validation</a:t>
              </a:r>
              <a:r>
                <a:rPr lang="th-TH" sz="900" b="1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)</a:t>
              </a:r>
              <a:endParaRPr sz="900" dirty="0"/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th-TH" sz="900" b="1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EDA </a:t>
              </a:r>
              <a:r>
                <a:rPr lang="th-TH" sz="900" b="1" dirty="0" err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Validation</a:t>
              </a:r>
              <a:r>
                <a:rPr lang="th-TH" sz="900" b="1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:</a:t>
              </a:r>
              <a:endParaRPr sz="9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th-TH" sz="900" b="1" dirty="0" err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Short</a:t>
              </a:r>
              <a:r>
                <a:rPr lang="th-TH" sz="900" b="1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Holding </a:t>
              </a:r>
              <a:r>
                <a:rPr lang="th-TH" sz="900" b="1" dirty="0" err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Period</a:t>
              </a:r>
              <a:r>
                <a:rPr lang="th-TH" sz="900" b="1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th-TH" sz="900" b="1" dirty="0" err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Confirmed</a:t>
              </a:r>
              <a:r>
                <a:rPr lang="th-TH" sz="900" b="1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:</a:t>
              </a:r>
              <a:r>
                <a:rPr lang="th-TH" sz="900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บัญชีม้าส่วนใหญ่มีอายุบัญชีน้อยและโอนเงินออกภายในไม่กี่นาที (อ้างอิงจาก </a:t>
              </a:r>
              <a:r>
                <a:rPr lang="th-TH" sz="900" dirty="0" err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Scatter</a:t>
              </a:r>
              <a:r>
                <a:rPr lang="th-TH" sz="900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th-TH" sz="900" dirty="0" err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Plot</a:t>
              </a:r>
              <a:r>
                <a:rPr lang="th-TH" sz="900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&amp; </a:t>
              </a:r>
              <a:r>
                <a:rPr lang="th-TH" sz="900" dirty="0" err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Histogram</a:t>
              </a:r>
              <a:r>
                <a:rPr lang="th-TH" sz="900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)</a:t>
              </a:r>
              <a:endParaRPr sz="900" dirty="0"/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th-TH" sz="900" b="1" dirty="0" err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Device</a:t>
              </a:r>
              <a:r>
                <a:rPr lang="th-TH" sz="900" b="1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Farm </a:t>
              </a:r>
              <a:r>
                <a:rPr lang="th-TH" sz="900" b="1" dirty="0" err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Confirmed</a:t>
              </a:r>
              <a:r>
                <a:rPr lang="th-TH" sz="900" b="1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:</a:t>
              </a:r>
              <a:r>
                <a:rPr lang="th-TH" sz="900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การใช้อุปกรณ์ร่วมกันตั้งแต่ 3 บัญชีขึ้นไป มีความน่าจะเป็นบัญชีม้าสูงถึงเกือบ 100% (อ้างอิงจาก </a:t>
              </a:r>
              <a:r>
                <a:rPr lang="th-TH" sz="900" dirty="0" err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Stacked</a:t>
              </a:r>
              <a:r>
                <a:rPr lang="th-TH" sz="900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th-TH" sz="900" dirty="0" err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Bar</a:t>
              </a:r>
              <a:r>
                <a:rPr lang="th-TH" sz="900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th-TH" sz="900" dirty="0" err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Chart</a:t>
              </a:r>
              <a:r>
                <a:rPr lang="th-TH" sz="900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)</a:t>
              </a:r>
              <a:endParaRPr sz="900" dirty="0"/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00" name="Google Shape;100;p1" descr="File:&lt;strong&gt;Icon&lt;/strong&gt;-round-&lt;strong&gt;Question&lt;/strong&gt; mark.svg - Wikipedia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8603422" y="1024539"/>
              <a:ext cx="182880" cy="18288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1" name="Google Shape;101;p1"/>
          <p:cNvSpPr/>
          <p:nvPr/>
        </p:nvSpPr>
        <p:spPr>
          <a:xfrm>
            <a:off x="43650" y="275123"/>
            <a:ext cx="12192000" cy="338700"/>
          </a:xfrm>
          <a:prstGeom prst="rect">
            <a:avLst/>
          </a:prstGeom>
          <a:noFill/>
          <a:ln w="12700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Title: </a:t>
            </a:r>
            <a:endParaRPr sz="20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"/>
          <p:cNvSpPr/>
          <p:nvPr/>
        </p:nvSpPr>
        <p:spPr>
          <a:xfrm>
            <a:off x="5747151" y="63614"/>
            <a:ext cx="6420000" cy="3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600" b="1" dirty="0" err="1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Designed</a:t>
            </a:r>
            <a:r>
              <a:rPr lang="th-TH" sz="1600" b="1" dirty="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th-TH" sz="1600" b="1" dirty="0" err="1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by</a:t>
            </a:r>
            <a:r>
              <a:rPr lang="th-TH" sz="1600" b="1" dirty="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: 167 , 182, 184 		             </a:t>
            </a:r>
            <a:r>
              <a:rPr lang="th-TH" sz="1600" b="1" dirty="0" err="1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Date</a:t>
            </a:r>
            <a:r>
              <a:rPr lang="th-TH" sz="1600" b="1" dirty="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:  2</a:t>
            </a:r>
            <a:r>
              <a:rPr lang="en-US" sz="1600" b="1" dirty="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r>
              <a:rPr lang="th-TH" sz="1600" b="1" dirty="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/03/26</a:t>
            </a:r>
            <a:endParaRPr sz="1600" dirty="0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"/>
          <p:cNvSpPr txBox="1"/>
          <p:nvPr/>
        </p:nvSpPr>
        <p:spPr>
          <a:xfrm>
            <a:off x="4736151" y="6624311"/>
            <a:ext cx="88184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06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Modified from Bill Schmarzo’s Machine Learning Canvas and Jasmine Vasandani’s Data Science Workflow Canvas for SWU</a:t>
            </a:r>
            <a:endParaRPr sz="10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4" name="Google Shape;104;p1"/>
          <p:cNvGrpSpPr/>
          <p:nvPr/>
        </p:nvGrpSpPr>
        <p:grpSpPr>
          <a:xfrm>
            <a:off x="1" y="3761422"/>
            <a:ext cx="5436611" cy="2960782"/>
            <a:chOff x="1" y="4383807"/>
            <a:chExt cx="3580487" cy="2213834"/>
          </a:xfrm>
        </p:grpSpPr>
        <p:pic>
          <p:nvPicPr>
            <p:cNvPr id="105" name="Google Shape;105;p1" descr="Wikipedia:WikiProject Medicine - Wikipedia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2664164" y="4383807"/>
              <a:ext cx="182880" cy="1828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6" name="Google Shape;106;p1"/>
            <p:cNvSpPr/>
            <p:nvPr/>
          </p:nvSpPr>
          <p:spPr>
            <a:xfrm>
              <a:off x="1" y="4408294"/>
              <a:ext cx="3580487" cy="2189347"/>
            </a:xfrm>
            <a:prstGeom prst="rect">
              <a:avLst/>
            </a:prstGeom>
            <a:noFill/>
            <a:ln w="12700" cap="flat" cmpd="sng">
              <a:solidFill>
                <a:srgbClr val="A5A5A5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th-TH" sz="10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5. Analysis/Model</a:t>
              </a:r>
              <a:endPara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6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67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7" name="Google Shape;107;p1"/>
          <p:cNvGrpSpPr/>
          <p:nvPr/>
        </p:nvGrpSpPr>
        <p:grpSpPr>
          <a:xfrm>
            <a:off x="8882578" y="3743164"/>
            <a:ext cx="3297036" cy="2854475"/>
            <a:chOff x="8923350" y="2960739"/>
            <a:chExt cx="3256264" cy="3636901"/>
          </a:xfrm>
        </p:grpSpPr>
        <p:pic>
          <p:nvPicPr>
            <p:cNvPr id="108" name="Google Shape;108;p1" descr="File:TK archive &lt;strong&gt;icon&lt;/strong&gt;.svg - Wikimedia Commons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11938539" y="3734134"/>
              <a:ext cx="182880" cy="1828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9" name="Google Shape;109;p1"/>
            <p:cNvSpPr/>
            <p:nvPr/>
          </p:nvSpPr>
          <p:spPr>
            <a:xfrm>
              <a:off x="8923350" y="2960739"/>
              <a:ext cx="3256264" cy="3636901"/>
            </a:xfrm>
            <a:prstGeom prst="rect">
              <a:avLst/>
            </a:prstGeom>
            <a:noFill/>
            <a:ln w="12700" cap="flat" cmpd="sng">
              <a:solidFill>
                <a:srgbClr val="A5A5A5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th-TH" sz="900" b="1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7. </a:t>
              </a:r>
              <a:r>
                <a:rPr lang="th-TH" sz="900" b="1" dirty="0" err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Recommendation</a:t>
              </a:r>
              <a:r>
                <a:rPr lang="th-TH" sz="900" b="1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/</a:t>
              </a:r>
              <a:r>
                <a:rPr lang="th-TH" sz="900" b="1" dirty="0" err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Action</a:t>
              </a:r>
              <a:r>
                <a:rPr lang="th-TH" sz="900" b="1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and </a:t>
              </a:r>
              <a:r>
                <a:rPr lang="th-TH" sz="900" b="1" dirty="0" err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Impact</a:t>
              </a:r>
              <a:endParaRPr sz="9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1" dirty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0" name="Google Shape;110;p1"/>
          <p:cNvGrpSpPr/>
          <p:nvPr/>
        </p:nvGrpSpPr>
        <p:grpSpPr>
          <a:xfrm>
            <a:off x="5387008" y="3260642"/>
            <a:ext cx="3447276" cy="3115987"/>
            <a:chOff x="3580841" y="3716993"/>
            <a:chExt cx="5302090" cy="2681390"/>
          </a:xfrm>
        </p:grpSpPr>
        <p:sp>
          <p:nvSpPr>
            <p:cNvPr id="111" name="Google Shape;111;p1"/>
            <p:cNvSpPr/>
            <p:nvPr/>
          </p:nvSpPr>
          <p:spPr>
            <a:xfrm>
              <a:off x="3580841" y="4020957"/>
              <a:ext cx="5302090" cy="2377426"/>
            </a:xfrm>
            <a:prstGeom prst="rect">
              <a:avLst/>
            </a:prstGeom>
            <a:noFill/>
            <a:ln w="12700" cap="flat" cmpd="sng">
              <a:solidFill>
                <a:srgbClr val="A5A5A5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th-TH" sz="1600" b="1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6. </a:t>
              </a:r>
              <a:r>
                <a:rPr lang="th-TH" sz="1000" b="1" dirty="0" err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Findings</a:t>
              </a:r>
              <a:r>
                <a:rPr lang="th-TH" sz="1000" b="1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and </a:t>
              </a:r>
              <a:r>
                <a:rPr lang="th-TH" sz="1000" b="1" dirty="0" err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Insights</a:t>
              </a:r>
              <a:endParaRPr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1" dirty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2" name="Google Shape;112;p1" descr="Treasure Map outline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8682275" y="3716993"/>
              <a:ext cx="182880" cy="18288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3" name="Google Shape;113;p1"/>
          <p:cNvSpPr/>
          <p:nvPr/>
        </p:nvSpPr>
        <p:spPr>
          <a:xfrm>
            <a:off x="0" y="-11236"/>
            <a:ext cx="4107305" cy="3130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67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ANALYTICS PROJECT CANVAS</a:t>
            </a:r>
            <a:endParaRPr sz="18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"/>
          <p:cNvSpPr/>
          <p:nvPr/>
        </p:nvSpPr>
        <p:spPr>
          <a:xfrm>
            <a:off x="25649" y="1774043"/>
            <a:ext cx="3685569" cy="2092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-63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th-TH" sz="1000" b="1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Who</a:t>
            </a:r>
            <a:r>
              <a:rPr lang="th-TH" sz="1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th-TH" sz="1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th-TH" sz="10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Scammed</a:t>
            </a:r>
            <a:r>
              <a:rPr lang="th-TH" sz="1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th-TH" sz="10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customers</a:t>
            </a:r>
            <a:r>
              <a:rPr lang="th-TH" sz="1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lang="th-TH" sz="10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Victims</a:t>
            </a:r>
            <a:r>
              <a:rPr lang="th-TH" sz="1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and </a:t>
            </a:r>
            <a:r>
              <a:rPr lang="th-TH" sz="10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Mule</a:t>
            </a:r>
            <a:r>
              <a:rPr lang="th-TH" sz="1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th-TH" sz="10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Account</a:t>
            </a:r>
            <a:r>
              <a:rPr lang="th-TH" sz="1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Networks.</a:t>
            </a:r>
            <a:endParaRPr dirty="0"/>
          </a:p>
          <a:p>
            <a:pPr marL="0" marR="0" lvl="0" indent="-63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th-TH" sz="1000" b="1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What</a:t>
            </a:r>
            <a:r>
              <a:rPr lang="th-TH" sz="1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th-TH" sz="1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th-TH" sz="10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Fraudulent</a:t>
            </a:r>
            <a:r>
              <a:rPr lang="th-TH" sz="1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th-TH" sz="10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transactions</a:t>
            </a:r>
            <a:r>
              <a:rPr lang="th-TH" sz="1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th-TH" sz="10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that</a:t>
            </a:r>
            <a:r>
              <a:rPr lang="th-TH" sz="1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th-TH" sz="10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legacy</a:t>
            </a:r>
            <a:r>
              <a:rPr lang="th-TH" sz="1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th-TH" sz="10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rule</a:t>
            </a:r>
            <a:r>
              <a:rPr lang="th-TH" sz="1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lang="th-TH" sz="10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based</a:t>
            </a:r>
            <a:r>
              <a:rPr lang="th-TH" sz="1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th-TH" sz="10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systems</a:t>
            </a:r>
            <a:r>
              <a:rPr lang="th-TH" sz="1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th-TH" sz="10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fail</a:t>
            </a:r>
            <a:r>
              <a:rPr lang="th-TH" sz="1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th-TH" sz="10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</a:t>
            </a:r>
            <a:r>
              <a:rPr lang="th-TH" sz="1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th-TH" sz="10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detect</a:t>
            </a:r>
            <a:r>
              <a:rPr lang="th-TH" sz="1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th-TH" sz="10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promptly</a:t>
            </a:r>
            <a:r>
              <a:rPr lang="th-TH" sz="1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dirty="0"/>
          </a:p>
          <a:p>
            <a:pPr marL="0" marR="0" lvl="0" indent="-63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th-TH" sz="1000" b="1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Where</a:t>
            </a:r>
            <a:r>
              <a:rPr lang="th-TH" sz="1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th-TH" sz="1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th-TH" sz="10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Mobile</a:t>
            </a:r>
            <a:r>
              <a:rPr lang="th-TH" sz="1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lang="th-TH" sz="10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Online</a:t>
            </a:r>
            <a:r>
              <a:rPr lang="th-TH" sz="1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th-TH" sz="10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Banking</a:t>
            </a:r>
            <a:r>
              <a:rPr lang="th-TH" sz="1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th-TH" sz="10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platforms</a:t>
            </a:r>
            <a:r>
              <a:rPr lang="th-TH" sz="1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lang="th-TH" sz="10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tracked</a:t>
            </a:r>
            <a:r>
              <a:rPr lang="th-TH" sz="1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th-TH" sz="10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via</a:t>
            </a:r>
            <a:r>
              <a:rPr lang="th-TH" sz="1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IP </a:t>
            </a:r>
            <a:r>
              <a:rPr lang="th-TH" sz="10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Addresses</a:t>
            </a:r>
            <a:r>
              <a:rPr lang="th-TH" sz="1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lang="th-TH" sz="10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Device</a:t>
            </a:r>
            <a:r>
              <a:rPr lang="th-TH" sz="1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th-TH" sz="10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IDs</a:t>
            </a:r>
            <a:r>
              <a:rPr lang="th-TH" sz="1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).</a:t>
            </a:r>
            <a:endParaRPr dirty="0"/>
          </a:p>
          <a:p>
            <a:pPr marL="0" marR="0" lvl="0" indent="-63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th-TH" sz="1000" b="1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When</a:t>
            </a:r>
            <a:r>
              <a:rPr lang="th-TH" sz="1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th-TH" sz="1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th-TH" sz="10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Immediately</a:t>
            </a:r>
            <a:r>
              <a:rPr lang="th-TH" sz="1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th-TH" sz="10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following</a:t>
            </a:r>
            <a:r>
              <a:rPr lang="th-TH" sz="1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 </a:t>
            </a:r>
            <a:r>
              <a:rPr lang="th-TH" sz="10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successful</a:t>
            </a:r>
            <a:r>
              <a:rPr lang="th-TH" sz="1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th-TH" sz="10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scam</a:t>
            </a:r>
            <a:r>
              <a:rPr lang="th-TH" sz="1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th-TH" sz="10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exhibiting</a:t>
            </a:r>
            <a:r>
              <a:rPr lang="th-TH" sz="1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 "</a:t>
            </a:r>
            <a:r>
              <a:rPr lang="th-TH" sz="10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receive</a:t>
            </a:r>
            <a:r>
              <a:rPr lang="th-TH" sz="1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lang="th-TH" sz="10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run</a:t>
            </a:r>
            <a:r>
              <a:rPr lang="th-TH" sz="1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" </a:t>
            </a:r>
            <a:r>
              <a:rPr lang="th-TH" sz="10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behavior</a:t>
            </a:r>
            <a:r>
              <a:rPr lang="th-TH" sz="1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lang="th-TH" sz="10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Short</a:t>
            </a:r>
            <a:r>
              <a:rPr lang="th-TH" sz="1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Holding </a:t>
            </a:r>
            <a:r>
              <a:rPr lang="th-TH" sz="10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Period</a:t>
            </a:r>
            <a:r>
              <a:rPr lang="th-TH" sz="1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).</a:t>
            </a:r>
            <a:endParaRPr dirty="0"/>
          </a:p>
          <a:p>
            <a:pPr marL="0" marR="0" lvl="0" indent="-63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th-TH" sz="1000" b="1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Why</a:t>
            </a:r>
            <a:r>
              <a:rPr lang="th-TH" sz="1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th-TH" sz="1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th-TH" sz="10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</a:t>
            </a:r>
            <a:r>
              <a:rPr lang="th-TH" sz="1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th-TH" sz="10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mitigate</a:t>
            </a:r>
            <a:r>
              <a:rPr lang="th-TH" sz="1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th-TH" sz="10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customer</a:t>
            </a:r>
            <a:r>
              <a:rPr lang="th-TH" sz="1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th-TH" sz="10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financial</a:t>
            </a:r>
            <a:r>
              <a:rPr lang="th-TH" sz="1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th-TH" sz="10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losses</a:t>
            </a:r>
            <a:r>
              <a:rPr lang="th-TH" sz="1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th-TH" sz="10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</a:t>
            </a:r>
            <a:r>
              <a:rPr lang="th-TH" sz="1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th-TH" sz="10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real</a:t>
            </a:r>
            <a:r>
              <a:rPr lang="th-TH" sz="1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lang="th-TH" sz="10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time</a:t>
            </a:r>
            <a:r>
              <a:rPr lang="th-TH" sz="1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lang="th-TH" sz="10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ensure</a:t>
            </a:r>
            <a:r>
              <a:rPr lang="th-TH" sz="1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th-TH" sz="10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strict</a:t>
            </a:r>
            <a:r>
              <a:rPr lang="th-TH" sz="1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th-TH" sz="10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compliance</a:t>
            </a:r>
            <a:r>
              <a:rPr lang="th-TH" sz="1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th-TH" sz="10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with</a:t>
            </a:r>
            <a:r>
              <a:rPr lang="th-TH" sz="1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th-TH" sz="10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Anti</a:t>
            </a:r>
            <a:r>
              <a:rPr lang="th-TH" sz="1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-Money </a:t>
            </a:r>
            <a:r>
              <a:rPr lang="th-TH" sz="10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Laundering</a:t>
            </a:r>
            <a:r>
              <a:rPr lang="th-TH" sz="1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(AML) </a:t>
            </a:r>
            <a:r>
              <a:rPr lang="th-TH" sz="10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regulations</a:t>
            </a:r>
            <a:r>
              <a:rPr lang="th-TH" sz="1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dirty="0"/>
          </a:p>
          <a:p>
            <a:pPr marL="0" marR="0" lvl="0" indent="-63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th-TH" sz="1000" b="1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How</a:t>
            </a:r>
            <a:r>
              <a:rPr lang="th-TH" sz="1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th-TH" sz="1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th-TH" sz="10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By</a:t>
            </a:r>
            <a:r>
              <a:rPr lang="th-TH" sz="1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th-TH" sz="10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deploying</a:t>
            </a:r>
            <a:r>
              <a:rPr lang="th-TH" sz="1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th-TH" sz="10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Graph</a:t>
            </a:r>
            <a:r>
              <a:rPr lang="th-TH" sz="1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th-TH" sz="10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Neural</a:t>
            </a:r>
            <a:r>
              <a:rPr lang="th-TH" sz="1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Networks (GNN) </a:t>
            </a:r>
            <a:r>
              <a:rPr lang="th-TH" sz="10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</a:t>
            </a:r>
            <a:r>
              <a:rPr lang="th-TH" sz="1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th-TH" sz="10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analyze</a:t>
            </a:r>
            <a:r>
              <a:rPr lang="th-TH" sz="1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th-TH" sz="10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complex</a:t>
            </a:r>
            <a:r>
              <a:rPr lang="th-TH" sz="1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th-TH" sz="10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account</a:t>
            </a:r>
            <a:r>
              <a:rPr lang="th-TH" sz="1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th-TH" sz="10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relationships</a:t>
            </a:r>
            <a:r>
              <a:rPr lang="th-TH" sz="1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lang="th-TH" sz="10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transactional</a:t>
            </a:r>
            <a:r>
              <a:rPr lang="th-TH" sz="1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th-TH" sz="10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behaviors</a:t>
            </a:r>
            <a:r>
              <a:rPr lang="th-TH" sz="1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dirty="0"/>
          </a:p>
        </p:txBody>
      </p:sp>
      <p:sp>
        <p:nvSpPr>
          <p:cNvPr id="115" name="Google Shape;115;p1"/>
          <p:cNvSpPr txBox="1"/>
          <p:nvPr/>
        </p:nvSpPr>
        <p:spPr>
          <a:xfrm>
            <a:off x="-14589" y="3945137"/>
            <a:ext cx="2035457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9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Exploratory</a:t>
            </a:r>
            <a:r>
              <a:rPr lang="th-TH" sz="9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Data </a:t>
            </a:r>
            <a:r>
              <a:rPr lang="th-TH" sz="9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Analysis</a:t>
            </a:r>
            <a:r>
              <a:rPr lang="th-TH" sz="9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(EDA):</a:t>
            </a:r>
            <a:endParaRPr sz="9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"/>
          <p:cNvSpPr/>
          <p:nvPr/>
        </p:nvSpPr>
        <p:spPr>
          <a:xfrm>
            <a:off x="-63738" y="4110450"/>
            <a:ext cx="3759900" cy="95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-57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</a:pPr>
            <a:r>
              <a:rPr lang="th-TH" sz="800" b="1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Behavioral</a:t>
            </a:r>
            <a:r>
              <a:rPr lang="th-TH" sz="8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th-TH" sz="800" b="1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Clustering</a:t>
            </a:r>
            <a:r>
              <a:rPr lang="th-TH" sz="8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th-TH" sz="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วิเคราะห์การกระจายตัวแบบ 2 มิติ (</a:t>
            </a:r>
            <a:r>
              <a:rPr lang="th-TH" sz="8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Scatter</a:t>
            </a:r>
            <a:r>
              <a:rPr lang="th-TH" sz="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th-TH" sz="8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Plot</a:t>
            </a:r>
            <a:r>
              <a:rPr lang="th-TH" sz="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เพื่อยืนยันพฤติกรรม "บัญชีอายุน้อย + ระยะเวลาถือครองเงินสั้น (</a:t>
            </a:r>
            <a:r>
              <a:rPr lang="th-TH" sz="8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Short</a:t>
            </a:r>
            <a:r>
              <a:rPr lang="th-TH" sz="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Holding </a:t>
            </a:r>
            <a:r>
              <a:rPr lang="th-TH" sz="8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Period</a:t>
            </a:r>
            <a:r>
              <a:rPr lang="th-TH" sz="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)"</a:t>
            </a:r>
            <a:endParaRPr sz="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-57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</a:pPr>
            <a:r>
              <a:rPr lang="th-TH" sz="8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Network </a:t>
            </a:r>
            <a:r>
              <a:rPr lang="th-TH" sz="800" b="1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Indicator</a:t>
            </a:r>
            <a:r>
              <a:rPr lang="th-TH" sz="8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th-TH" sz="800" b="1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Analysis</a:t>
            </a:r>
            <a:r>
              <a:rPr lang="th-TH" sz="8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th-TH" sz="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วิเคราะห์สัดส่วน (100% </a:t>
            </a:r>
            <a:r>
              <a:rPr lang="th-TH" sz="8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Stacked</a:t>
            </a:r>
            <a:r>
              <a:rPr lang="th-TH" sz="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th-TH" sz="8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Bar</a:t>
            </a:r>
            <a:r>
              <a:rPr lang="th-TH" sz="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เพื่อหา </a:t>
            </a:r>
            <a:r>
              <a:rPr lang="th-TH" sz="8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Threshold</a:t>
            </a:r>
            <a:r>
              <a:rPr lang="th-TH" sz="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ของเครือข่ายบัญชีม้า (พบจุดสังเกตสำคัญเมื่อมีการแชร์ </a:t>
            </a:r>
            <a:r>
              <a:rPr lang="th-TH" sz="8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Device</a:t>
            </a:r>
            <a:r>
              <a:rPr lang="th-TH" sz="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/IP ตั้งแต่ 3 บัญชีขึ้นไป)</a:t>
            </a:r>
            <a:endParaRPr sz="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"/>
          <p:cNvSpPr txBox="1"/>
          <p:nvPr/>
        </p:nvSpPr>
        <p:spPr>
          <a:xfrm>
            <a:off x="-49083" y="5013002"/>
            <a:ext cx="4736150" cy="1255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th-TH" sz="9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Pre-</a:t>
            </a:r>
            <a:r>
              <a:rPr lang="th-TH" sz="900" b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processing</a:t>
            </a:r>
            <a:r>
              <a:rPr lang="th-TH" sz="9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(เทคนิคการเตรียมข้อมูล):</a:t>
            </a:r>
            <a:endParaRPr sz="9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-63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th-TH" sz="9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</a:t>
            </a:r>
            <a:r>
              <a:rPr lang="th-TH" sz="900" b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Normalization</a:t>
            </a:r>
            <a:r>
              <a:rPr lang="th-TH" sz="9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th-TH" sz="9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ใช้เทคนิค </a:t>
            </a:r>
            <a:r>
              <a:rPr lang="th-TH" sz="9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Min</a:t>
            </a:r>
            <a:r>
              <a:rPr lang="th-TH" sz="9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lang="th-TH" sz="9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Max</a:t>
            </a:r>
            <a:r>
              <a:rPr lang="th-TH" sz="9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th-TH" sz="9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Normalization</a:t>
            </a:r>
            <a:r>
              <a:rPr lang="th-TH" sz="9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ปรับ</a:t>
            </a:r>
            <a:r>
              <a:rPr lang="th-TH" sz="9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สเกล</a:t>
            </a:r>
            <a:r>
              <a:rPr lang="th-TH" sz="9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ยอดเงินโอนให้อยู่ในช่วง 0-1 เพื่อลดอคติ (</a:t>
            </a:r>
            <a:r>
              <a:rPr lang="th-TH" sz="9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Bias</a:t>
            </a:r>
            <a:r>
              <a:rPr lang="th-TH" sz="9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จาก </a:t>
            </a:r>
            <a:r>
              <a:rPr lang="th-TH" sz="9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Extreme</a:t>
            </a:r>
            <a:r>
              <a:rPr lang="th-TH" sz="9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th-TH" sz="9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Outliers</a:t>
            </a:r>
            <a:r>
              <a:rPr lang="th-TH" sz="9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ของกลุ่มบัญชีปกติ (พิสูจน์แล้วผ่าน </a:t>
            </a:r>
            <a:r>
              <a:rPr lang="th-TH" sz="9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Box</a:t>
            </a:r>
            <a:r>
              <a:rPr lang="th-TH" sz="9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th-TH" sz="9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Plot</a:t>
            </a:r>
            <a:r>
              <a:rPr lang="th-TH" sz="9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900" dirty="0"/>
          </a:p>
          <a:p>
            <a:pPr marL="0" marR="0" lvl="0" indent="-63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th-TH" sz="900" b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Imbalance</a:t>
            </a:r>
            <a:r>
              <a:rPr lang="th-TH" sz="9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th-TH" sz="900" b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Handling</a:t>
            </a:r>
            <a:r>
              <a:rPr lang="th-TH" sz="9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th-TH" sz="9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ใช้ </a:t>
            </a:r>
            <a:r>
              <a:rPr lang="th-TH" sz="9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Log</a:t>
            </a:r>
            <a:r>
              <a:rPr lang="th-TH" sz="9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th-TH" sz="9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Scale</a:t>
            </a:r>
            <a:r>
              <a:rPr lang="th-TH" sz="9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th-TH" sz="9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Transformation</a:t>
            </a:r>
            <a:r>
              <a:rPr lang="th-TH" sz="9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บนแกนข้อมูล เพื่อแก้ปัญหา </a:t>
            </a:r>
            <a:r>
              <a:rPr lang="th-TH" sz="9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Class</a:t>
            </a:r>
            <a:r>
              <a:rPr lang="th-TH" sz="9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th-TH" sz="9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Imbalance</a:t>
            </a:r>
            <a:r>
              <a:rPr lang="th-TH" sz="9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ทำให้สามารถมองเห็นและวิเคราะห์แพท</a:t>
            </a:r>
            <a:r>
              <a:rPr lang="th-TH" sz="9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เทิร์น</a:t>
            </a:r>
            <a:r>
              <a:rPr lang="th-TH" sz="9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ของธุรกรรมฉ้อโกงที่มีสัดส่วนน้อยมากได้ (แสดงผ่าน </a:t>
            </a:r>
            <a:r>
              <a:rPr lang="th-TH" sz="9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Histogram</a:t>
            </a:r>
            <a:r>
              <a:rPr lang="th-TH" sz="9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900" dirty="0"/>
          </a:p>
        </p:txBody>
      </p:sp>
      <p:sp>
        <p:nvSpPr>
          <p:cNvPr id="118" name="Google Shape;118;p1"/>
          <p:cNvSpPr txBox="1"/>
          <p:nvPr/>
        </p:nvSpPr>
        <p:spPr>
          <a:xfrm>
            <a:off x="1868433" y="6045499"/>
            <a:ext cx="3203916" cy="2557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th-TH" sz="900" b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Proposed</a:t>
            </a:r>
            <a:r>
              <a:rPr lang="th-TH" sz="9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th-TH" sz="900" b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Model</a:t>
            </a:r>
            <a:r>
              <a:rPr lang="th-TH" sz="9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(โมเดลหลักที่จะใช้):</a:t>
            </a:r>
          </a:p>
          <a:p>
            <a:r>
              <a:rPr lang="th-TH" sz="900" dirty="0"/>
              <a:t>ทำไมถึงต้องสร้าง </a:t>
            </a:r>
            <a:r>
              <a:rPr lang="en-US" sz="900" dirty="0"/>
              <a:t>Node/Edge </a:t>
            </a:r>
            <a:r>
              <a:rPr lang="th-TH" sz="900" dirty="0"/>
              <a:t>แบบนี้:</a:t>
            </a:r>
          </a:p>
          <a:p>
            <a:r>
              <a:rPr lang="en-US" sz="900" b="1" i="1" dirty="0"/>
              <a:t>Graph Neural Network (GNN):</a:t>
            </a:r>
            <a:r>
              <a:rPr lang="en-US" sz="900" i="1" dirty="0"/>
              <a:t> </a:t>
            </a:r>
            <a:r>
              <a:rPr lang="th-TH" sz="900" i="1" dirty="0"/>
              <a:t>เนื่องจาก </a:t>
            </a:r>
            <a:r>
              <a:rPr lang="en-US" sz="900" i="1" dirty="0"/>
              <a:t>EDA </a:t>
            </a:r>
            <a:r>
              <a:rPr lang="th-TH" sz="900" i="1" dirty="0"/>
              <a:t>ยืนยันว่ามิจฉาชีพทำงานเป็นเครือข่าย การใช้ </a:t>
            </a:r>
            <a:r>
              <a:rPr lang="en-US" sz="900" i="1" dirty="0"/>
              <a:t>GNN </a:t>
            </a:r>
            <a:r>
              <a:rPr lang="th-TH" sz="900" i="1" dirty="0"/>
              <a:t>โดยกำหนดให้ </a:t>
            </a:r>
            <a:r>
              <a:rPr lang="th-TH" sz="900" b="1" i="1" dirty="0"/>
              <a:t>บัญชีและอุปกรณ์ (</a:t>
            </a:r>
            <a:r>
              <a:rPr lang="en-US" sz="900" b="1" i="1" dirty="0"/>
              <a:t>Device ID </a:t>
            </a:r>
            <a:r>
              <a:rPr lang="th-TH" sz="900" b="1" i="1" dirty="0"/>
              <a:t>ที่มี </a:t>
            </a:r>
            <a:r>
              <a:rPr lang="en-US" sz="900" b="1" i="1" dirty="0"/>
              <a:t>Correlation +0.65)</a:t>
            </a:r>
            <a:r>
              <a:rPr lang="en-US" sz="900" i="1" dirty="0"/>
              <a:t> </a:t>
            </a:r>
            <a:r>
              <a:rPr lang="th-TH" sz="900" i="1" dirty="0"/>
              <a:t>เป็น </a:t>
            </a:r>
            <a:r>
              <a:rPr lang="en-US" sz="900" i="1" dirty="0"/>
              <a:t>Node </a:t>
            </a:r>
            <a:r>
              <a:rPr lang="th-TH" sz="900" i="1" dirty="0"/>
              <a:t>และ </a:t>
            </a:r>
            <a:r>
              <a:rPr lang="th-TH" sz="900" b="1" i="1" dirty="0"/>
              <a:t>ธุรกรรม (</a:t>
            </a:r>
            <a:r>
              <a:rPr lang="en-US" sz="900" b="1" i="1" dirty="0"/>
              <a:t>Tx Amount </a:t>
            </a:r>
            <a:r>
              <a:rPr lang="th-TH" sz="900" b="1" i="1" dirty="0"/>
              <a:t>ที่มี </a:t>
            </a:r>
            <a:r>
              <a:rPr lang="en-US" sz="900" b="1" i="1" dirty="0"/>
              <a:t>Correlation +0.84)</a:t>
            </a:r>
            <a:r>
              <a:rPr lang="en-US" sz="900" i="1" dirty="0"/>
              <a:t> </a:t>
            </a:r>
            <a:r>
              <a:rPr lang="th-TH" sz="900" i="1" dirty="0"/>
              <a:t>เป็น </a:t>
            </a:r>
            <a:r>
              <a:rPr lang="en-US" sz="900" i="1" dirty="0"/>
              <a:t>Edge </a:t>
            </a:r>
            <a:r>
              <a:rPr lang="th-TH" sz="900" i="1" dirty="0"/>
              <a:t>จะช่วยเจาะลึกความสัมพันธ์ที่ระบบ </a:t>
            </a:r>
            <a:r>
              <a:rPr lang="en-US" sz="900" i="1" dirty="0"/>
              <a:t>Rule-based </a:t>
            </a:r>
            <a:r>
              <a:rPr lang="th-TH" sz="900" i="1" dirty="0"/>
              <a:t>จับไม่ได้</a:t>
            </a:r>
            <a:endParaRPr lang="th-TH" sz="9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endParaRPr sz="9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-57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</a:pPr>
            <a:r>
              <a:rPr lang="th-TH" sz="900" b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Graph</a:t>
            </a:r>
            <a:r>
              <a:rPr lang="th-TH" sz="9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th-TH" sz="900" b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Neural</a:t>
            </a:r>
            <a:r>
              <a:rPr lang="th-TH" sz="9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Network (GNN):</a:t>
            </a:r>
            <a:r>
              <a:rPr lang="th-TH" sz="9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เนื่องจาก EDA ยืนยันว่ามิจฉาชีพทำงานเป็น "เครือข่าย" การใช้โมเดล GNN โดยกำหนดให้บัญชี/อุปกรณ์ เป็น </a:t>
            </a:r>
            <a:r>
              <a:rPr lang="th-TH" sz="9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Node</a:t>
            </a:r>
            <a:r>
              <a:rPr lang="th-TH" sz="9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และ ธุรกรรม เป็น </a:t>
            </a:r>
            <a:r>
              <a:rPr lang="th-TH" sz="9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Edge</a:t>
            </a:r>
            <a:r>
              <a:rPr lang="th-TH" sz="9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จะช่วยเจาะลึกความสัมพันธ์ที่ซับซ้อน ซึ่งระบบ </a:t>
            </a:r>
            <a:r>
              <a:rPr lang="th-TH" sz="9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Rule</a:t>
            </a:r>
            <a:r>
              <a:rPr lang="th-TH" sz="9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lang="th-TH" sz="9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based</a:t>
            </a:r>
            <a:r>
              <a:rPr lang="th-TH" sz="9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เดิมไม่สามารถจับได้ และช่วยลดอัตรา </a:t>
            </a:r>
            <a:r>
              <a:rPr lang="th-TH" sz="9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False</a:t>
            </a:r>
            <a:r>
              <a:rPr lang="th-TH" sz="9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th-TH" sz="9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Positive</a:t>
            </a:r>
            <a:r>
              <a:rPr lang="th-TH" sz="9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ลงอย่างมีนัยสำคัญ</a:t>
            </a:r>
            <a:endParaRPr dirty="0"/>
          </a:p>
        </p:txBody>
      </p:sp>
      <p:sp>
        <p:nvSpPr>
          <p:cNvPr id="119" name="Google Shape;119;p1"/>
          <p:cNvSpPr txBox="1"/>
          <p:nvPr/>
        </p:nvSpPr>
        <p:spPr>
          <a:xfrm>
            <a:off x="5500351" y="3860259"/>
            <a:ext cx="3204240" cy="861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พฤติกรรมแบบ "</a:t>
            </a:r>
            <a:r>
              <a:rPr lang="th-TH" sz="1000" b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Hit</a:t>
            </a:r>
            <a:r>
              <a:rPr lang="th-TH" sz="1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&amp; </a:t>
            </a:r>
            <a:r>
              <a:rPr lang="th-TH" sz="1000" b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Run</a:t>
            </a:r>
            <a:r>
              <a:rPr lang="th-TH" sz="1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" (</a:t>
            </a:r>
            <a:r>
              <a:rPr lang="th-TH" sz="1000" b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Short</a:t>
            </a:r>
            <a:r>
              <a:rPr lang="th-TH" sz="1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Holding </a:t>
            </a:r>
            <a:r>
              <a:rPr lang="th-TH" sz="1000" b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Period</a:t>
            </a:r>
            <a:r>
              <a:rPr lang="th-TH" sz="1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):</a:t>
            </a:r>
            <a:r>
              <a:rPr lang="th-TH" sz="1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ข้อมูลแสดงให้เห็นถึงการกระจุกตัวอย่างชัดเจนของกลุ่มบัญชีม้า ซึ่งเกือบ 100% เป็น </a:t>
            </a:r>
            <a:r>
              <a:rPr lang="th-TH" sz="1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"บัญชีอายุ 0 วัน"</a:t>
            </a:r>
            <a:r>
              <a:rPr lang="th-TH" sz="1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(เปิดปุ๊บใช้ปั๊บ) และมีระยะเวลาถือครองเงินก่อนโอนออกที่สั้นมากในระดับนาที ข้อมูลนี้ยืนยันว่าระบบ </a:t>
            </a:r>
            <a:r>
              <a:rPr lang="th-TH" sz="1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Rule</a:t>
            </a:r>
            <a:r>
              <a:rPr lang="th-TH" sz="1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lang="th-TH" sz="1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based</a:t>
            </a:r>
            <a:r>
              <a:rPr lang="th-TH" sz="1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เดิมที่มีความหน่วง (</a:t>
            </a:r>
            <a:r>
              <a:rPr lang="th-TH" sz="1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Latency</a:t>
            </a:r>
            <a:r>
              <a:rPr lang="th-TH" sz="1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ไม่สามารถระงับความเสียหายได้ทัน และระบบใหม่จำเป็นต้องเป็น </a:t>
            </a:r>
            <a:r>
              <a:rPr lang="th-TH" sz="1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Real</a:t>
            </a:r>
            <a:r>
              <a:rPr lang="th-TH" sz="1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lang="th-TH" sz="1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time</a:t>
            </a:r>
            <a:r>
              <a:rPr lang="th-TH" sz="1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th-TH" sz="1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Alert</a:t>
            </a:r>
            <a:endParaRPr sz="1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"/>
          <p:cNvSpPr txBox="1"/>
          <p:nvPr/>
        </p:nvSpPr>
        <p:spPr>
          <a:xfrm>
            <a:off x="5450439" y="5344799"/>
            <a:ext cx="3383055" cy="144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9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พฤติกรรมเครือข่าย "</a:t>
            </a:r>
            <a:r>
              <a:rPr lang="th-TH" sz="900" b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Device</a:t>
            </a:r>
            <a:r>
              <a:rPr lang="th-TH" sz="9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Farm" (Network </a:t>
            </a:r>
            <a:r>
              <a:rPr lang="th-TH" sz="900" b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Vulnerability</a:t>
            </a:r>
            <a:r>
              <a:rPr lang="th-TH" sz="9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):</a:t>
            </a:r>
            <a:r>
              <a:rPr lang="th-TH" sz="9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จากการวิเคราะห์ความสัมพันธ์ (</a:t>
            </a:r>
            <a:r>
              <a:rPr lang="th-TH" sz="9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Correlation</a:t>
            </a:r>
            <a:r>
              <a:rPr lang="th-TH" sz="9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th-TH" sz="9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Matrix</a:t>
            </a:r>
            <a:r>
              <a:rPr lang="th-TH" sz="9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พบว่าปัจจัยการแชร์อุปกรณ์มีอิทธิพลสูงสุด (</a:t>
            </a:r>
            <a:r>
              <a:rPr lang="th-TH" sz="9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Correlation</a:t>
            </a:r>
            <a:r>
              <a:rPr lang="th-TH" sz="9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+0.82) โดยพบจุดเปลี่ยน (</a:t>
            </a:r>
            <a:r>
              <a:rPr lang="th-TH" sz="9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Tipping</a:t>
            </a:r>
            <a:r>
              <a:rPr lang="th-TH" sz="9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th-TH" sz="9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Point</a:t>
            </a:r>
            <a:r>
              <a:rPr lang="th-TH" sz="9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ทางสถิติที่ชัดเจนว่า </a:t>
            </a:r>
            <a:r>
              <a:rPr lang="th-TH" sz="9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หากมีการใช้อุปกรณ์ (</a:t>
            </a:r>
            <a:r>
              <a:rPr lang="th-TH" sz="900" b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Device</a:t>
            </a:r>
            <a:r>
              <a:rPr lang="th-TH" sz="9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ID / IP </a:t>
            </a:r>
            <a:r>
              <a:rPr lang="th-TH" sz="900" b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Address</a:t>
            </a:r>
            <a:r>
              <a:rPr lang="th-TH" sz="9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เดียวกันตั้งแต่ 3 บัญชีขึ้นไป</a:t>
            </a:r>
            <a:r>
              <a:rPr lang="th-TH" sz="9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ความน่าจะเป็นในการเป็นเครือข่ายบัญชีม้าจะพุ่งสูงแตะ 100% ซึ่งเป็นแพท</a:t>
            </a:r>
            <a:r>
              <a:rPr lang="th-TH" sz="9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เทิร์น</a:t>
            </a:r>
            <a:r>
              <a:rPr lang="th-TH" sz="9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ขบวนการที่ระบบตรวจสอบรายบุคคลแบบเดิมมักมองข้าม</a:t>
            </a:r>
            <a:endParaRPr sz="900" dirty="0"/>
          </a:p>
        </p:txBody>
      </p:sp>
      <p:sp>
        <p:nvSpPr>
          <p:cNvPr id="2" name="กล่องข้อความ 1">
            <a:extLst>
              <a:ext uri="{FF2B5EF4-FFF2-40B4-BE49-F238E27FC236}">
                <a16:creationId xmlns:a16="http://schemas.microsoft.com/office/drawing/2014/main" id="{21804864-03BE-CEAF-EEF6-3E89018B1D98}"/>
              </a:ext>
            </a:extLst>
          </p:cNvPr>
          <p:cNvSpPr txBox="1"/>
          <p:nvPr/>
        </p:nvSpPr>
        <p:spPr>
          <a:xfrm>
            <a:off x="8864949" y="3960366"/>
            <a:ext cx="300683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/>
              <a:t>Rule-based Alert 1 (Device Farm):</a:t>
            </a:r>
            <a:r>
              <a:rPr lang="en-US" sz="900" dirty="0"/>
              <a:t> </a:t>
            </a:r>
            <a:r>
              <a:rPr lang="th-TH" sz="900" dirty="0"/>
              <a:t>ตั้งค่าระบบให้ระงับธุรกรรม (</a:t>
            </a:r>
            <a:r>
              <a:rPr lang="en-US" sz="900" dirty="0"/>
              <a:t>Freeze) </a:t>
            </a:r>
            <a:r>
              <a:rPr lang="th-TH" sz="900" dirty="0"/>
              <a:t>ทันที เมื่อพบการแชร์ </a:t>
            </a:r>
            <a:r>
              <a:rPr lang="en-US" sz="900" dirty="0"/>
              <a:t>Device ID/IP </a:t>
            </a:r>
            <a:r>
              <a:rPr lang="th-TH" sz="900" dirty="0"/>
              <a:t>ตั้งแต่ 3 บัญชีขึ้นไป</a:t>
            </a:r>
          </a:p>
          <a:p>
            <a:r>
              <a:rPr lang="en-US" sz="900" b="1" dirty="0"/>
              <a:t>Rule-based Alert 2 (Hit &amp; Run &amp; Aged Accounts):</a:t>
            </a:r>
            <a:r>
              <a:rPr lang="en-US" sz="900" dirty="0"/>
              <a:t> </a:t>
            </a:r>
            <a:r>
              <a:rPr lang="th-TH" sz="900" dirty="0"/>
              <a:t>หากพบ "บัญชีเก่า" ที่มีการเปลี่ยนอุปกรณ์กะทันหัน และมี</a:t>
            </a:r>
            <a:r>
              <a:rPr lang="th-TH" sz="900" dirty="0" err="1"/>
              <a:t>การทำ</a:t>
            </a:r>
            <a:r>
              <a:rPr lang="th-TH" sz="900" dirty="0"/>
              <a:t>ธุรกรรมโอนออกอย่างรวดเร็วผิดปกติ ให้ติด </a:t>
            </a:r>
            <a:r>
              <a:rPr lang="en-US" sz="900" dirty="0"/>
              <a:t>Flag </a:t>
            </a:r>
            <a:r>
              <a:rPr lang="th-TH" sz="900" dirty="0"/>
              <a:t>เป็น </a:t>
            </a:r>
            <a:r>
              <a:rPr lang="en-US" sz="900" dirty="0"/>
              <a:t>High-Risk </a:t>
            </a:r>
            <a:r>
              <a:rPr lang="th-TH" sz="900" dirty="0"/>
              <a:t>ทันที</a:t>
            </a:r>
          </a:p>
          <a:p>
            <a:r>
              <a:rPr lang="en-US" sz="900" b="1" dirty="0"/>
              <a:t>Balancing Security vs. Customer Experience (False Positive Mitigation):</a:t>
            </a:r>
            <a:r>
              <a:rPr lang="en-US" sz="900" dirty="0"/>
              <a:t> </a:t>
            </a:r>
            <a:r>
              <a:rPr lang="th-TH" sz="900" dirty="0"/>
              <a:t>เพื่อไม่ให้กระทบลูกค้าปกติ (</a:t>
            </a:r>
            <a:r>
              <a:rPr lang="en-US" sz="900" dirty="0"/>
              <a:t>CX) </a:t>
            </a:r>
            <a:r>
              <a:rPr lang="th-TH" sz="900" dirty="0"/>
              <a:t>ระบบจะทำการตั้งเงื่อนไขยกเว้น (</a:t>
            </a:r>
            <a:r>
              <a:rPr lang="en-US" sz="900" dirty="0"/>
              <a:t>Whitelist) </a:t>
            </a:r>
            <a:r>
              <a:rPr lang="th-TH" sz="900" dirty="0"/>
              <a:t>สำหรับ </a:t>
            </a:r>
            <a:r>
              <a:rPr lang="en-US" sz="900" dirty="0"/>
              <a:t>Corporate IP / </a:t>
            </a:r>
            <a:r>
              <a:rPr lang="en-US" sz="900" dirty="0" err="1"/>
              <a:t>WiFi</a:t>
            </a:r>
            <a:r>
              <a:rPr lang="en-US" sz="900" dirty="0"/>
              <a:t> </a:t>
            </a:r>
            <a:r>
              <a:rPr lang="th-TH" sz="900" dirty="0"/>
              <a:t>ของบริษัท เพื่อลดอัตรา </a:t>
            </a:r>
            <a:r>
              <a:rPr lang="en-US" sz="900" dirty="0"/>
              <a:t>False Positive </a:t>
            </a:r>
            <a:r>
              <a:rPr lang="th-TH" sz="900" dirty="0"/>
              <a:t>ซึ่งตอบโจทย์เป้าหมายการเพิ่ม </a:t>
            </a:r>
            <a:r>
              <a:rPr lang="en-US" sz="900" dirty="0"/>
              <a:t>Precision 20%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232</TotalTime>
  <Words>1194</Words>
  <Application>Microsoft Office PowerPoint</Application>
  <PresentationFormat>แบบจอกว้าง</PresentationFormat>
  <Paragraphs>59</Paragraphs>
  <Slides>1</Slides>
  <Notes>1</Notes>
  <HiddenSlides>0</HiddenSlides>
  <MMClips>0</MMClips>
  <ScaleCrop>false</ScaleCrop>
  <HeadingPairs>
    <vt:vector size="6" baseType="variant">
      <vt:variant>
        <vt:lpstr>ฟอนต์ที่ถูกใช้</vt:lpstr>
      </vt:variant>
      <vt:variant>
        <vt:i4>3</vt:i4>
      </vt:variant>
      <vt:variant>
        <vt:lpstr>ธีม</vt:lpstr>
      </vt:variant>
      <vt:variant>
        <vt:i4>1</vt:i4>
      </vt:variant>
      <vt:variant>
        <vt:lpstr>ชื่อเรื่องสไลด์</vt:lpstr>
      </vt:variant>
      <vt:variant>
        <vt:i4>1</vt:i4>
      </vt:variant>
    </vt:vector>
  </HeadingPairs>
  <TitlesOfParts>
    <vt:vector size="5" baseType="lpstr">
      <vt:lpstr>Arial</vt:lpstr>
      <vt:lpstr>Calibri</vt:lpstr>
      <vt:lpstr>Play</vt:lpstr>
      <vt:lpstr>Office Theme</vt:lpstr>
      <vt:lpstr>งานนำเสนอ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Nuwee Wiwatwattana</dc:creator>
  <cp:lastModifiedBy>Gui Zeo</cp:lastModifiedBy>
  <cp:revision>3</cp:revision>
  <dcterms:created xsi:type="dcterms:W3CDTF">2026-01-02T14:12:03Z</dcterms:created>
  <dcterms:modified xsi:type="dcterms:W3CDTF">2026-04-27T16:35:25Z</dcterms:modified>
</cp:coreProperties>
</file>